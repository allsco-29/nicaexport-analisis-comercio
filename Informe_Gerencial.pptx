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mari\Downloads\Allison%20Trabajos\Caso%20de%20Estudio%20NicaExport%20Trading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[Caso de Estudio NicaExport Trading_1.xlsx]Tablas y gráficos!TablaDinámica10</c:name>
    <c:fmtId val="3"/>
  </c:pivotSource>
  <c:chart>
    <c:autoTitleDeleted val="1"/>
    <c:pivotFmts>
      <c:pivotFmt>
        <c:idx val="0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'Tablas y gráficos'!$F$42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'Tablas y gráficos'!$E$43:$E$46</c:f>
              <c:strCache>
                <c:ptCount val="3"/>
                <c:pt idx="0">
                  <c:v>Centroamérica</c:v>
                </c:pt>
                <c:pt idx="1">
                  <c:v>Europa</c:v>
                </c:pt>
                <c:pt idx="2">
                  <c:v>Norteamérica</c:v>
                </c:pt>
              </c:strCache>
            </c:strRef>
          </c:cat>
          <c:val>
            <c:numRef>
              <c:f>'Tablas y gráficos'!$F$43:$F$46</c:f>
              <c:numCache>
                <c:formatCode>#,##0</c:formatCode>
                <c:ptCount val="3"/>
                <c:pt idx="0">
                  <c:v>232879</c:v>
                </c:pt>
                <c:pt idx="1">
                  <c:v>136328</c:v>
                </c:pt>
                <c:pt idx="2">
                  <c:v>289058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D4-4729-A863-6BF9CC58C8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85904792"/>
        <c:axId val="685903808"/>
        <c:axId val="0"/>
      </c:bar3DChart>
      <c:catAx>
        <c:axId val="6859047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NI"/>
                  <a:t>Región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685903808"/>
        <c:crosses val="autoZero"/>
        <c:auto val="1"/>
        <c:lblAlgn val="ctr"/>
        <c:lblOffset val="100"/>
        <c:noMultiLvlLbl val="0"/>
      </c:catAx>
      <c:valAx>
        <c:axId val="685903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NI"/>
                  <a:t>Valor FOB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685904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2992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8012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2286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3001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9329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2263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7892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6371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319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0346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3286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406429B-F70B-41F5-B6D9-F811617AE42D}" type="datetimeFigureOut">
              <a:rPr lang="es-NI" smtClean="0"/>
              <a:t>12/9/2026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5639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9005" y="2139707"/>
            <a:ext cx="9144000" cy="1592730"/>
          </a:xfrm>
        </p:spPr>
        <p:txBody>
          <a:bodyPr>
            <a:noAutofit/>
          </a:bodyPr>
          <a:lstStyle/>
          <a:p>
            <a:pPr algn="ctr"/>
            <a:r>
              <a:rPr lang="es-MX" sz="4800" dirty="0"/>
              <a:t>Informe Gerencial: Operaciones 1 Semestre 2026</a:t>
            </a:r>
            <a:endParaRPr lang="es-NI" sz="480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CC999CB-4B52-415D-944A-E9C63035EDC5}"/>
              </a:ext>
            </a:extLst>
          </p:cNvPr>
          <p:cNvSpPr/>
          <p:nvPr/>
        </p:nvSpPr>
        <p:spPr>
          <a:xfrm>
            <a:off x="4255994" y="1734671"/>
            <a:ext cx="3550023" cy="27699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0D4666-8BDE-4972-A886-C736E38B535C}"/>
              </a:ext>
            </a:extLst>
          </p:cNvPr>
          <p:cNvSpPr txBox="1"/>
          <p:nvPr/>
        </p:nvSpPr>
        <p:spPr>
          <a:xfrm>
            <a:off x="3590364" y="1734671"/>
            <a:ext cx="4881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1200" dirty="0"/>
              <a:t>REPORTE EJECUTIVO DE EXPORTACIONES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AE3FD39-17AB-4EBF-9B67-9DA1E9DC46D7}"/>
              </a:ext>
            </a:extLst>
          </p:cNvPr>
          <p:cNvSpPr txBox="1"/>
          <p:nvPr/>
        </p:nvSpPr>
        <p:spPr>
          <a:xfrm>
            <a:off x="1803773" y="3860474"/>
            <a:ext cx="8584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1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Evaluación Comercial, Análisis de Rentabilidad y Estrategia Internacional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DE0E64C-0610-45CF-AE96-2ADB9DE0BCF0}"/>
              </a:ext>
            </a:extLst>
          </p:cNvPr>
          <p:cNvCxnSpPr/>
          <p:nvPr/>
        </p:nvCxnSpPr>
        <p:spPr>
          <a:xfrm>
            <a:off x="1102659" y="4558553"/>
            <a:ext cx="101256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4649DF5-2265-4E10-9E5F-7EB2A9BBA80C}"/>
              </a:ext>
            </a:extLst>
          </p:cNvPr>
          <p:cNvSpPr txBox="1"/>
          <p:nvPr/>
        </p:nvSpPr>
        <p:spPr>
          <a:xfrm>
            <a:off x="1212476" y="4625035"/>
            <a:ext cx="990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12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Empresa: Nica </a:t>
            </a:r>
            <a:r>
              <a:rPr lang="es-NI" sz="1200" dirty="0" err="1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Export</a:t>
            </a:r>
            <a:r>
              <a:rPr lang="es-NI" sz="12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S.A. | Elaborado por: Allison Argentina Caballero Ortega y </a:t>
            </a:r>
            <a:r>
              <a:rPr lang="es-NI" sz="1200" dirty="0" err="1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Avril</a:t>
            </a:r>
            <a:r>
              <a:rPr lang="es-NI" sz="12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Alejandra Meza Mayorga | UAM </a:t>
            </a:r>
          </a:p>
        </p:txBody>
      </p:sp>
    </p:spTree>
    <p:extLst>
      <p:ext uri="{BB962C8B-B14F-4D97-AF65-F5344CB8AC3E}">
        <p14:creationId xmlns:p14="http://schemas.microsoft.com/office/powerpoint/2010/main" val="899074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Situación Empresarial y Objetivo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774700" y="1790702"/>
            <a:ext cx="5194300" cy="3733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/>
              <a:t>Situación Empresarial</a:t>
            </a:r>
          </a:p>
          <a:p>
            <a:endParaRPr lang="es-MX" sz="1600" b="1" dirty="0"/>
          </a:p>
          <a:p>
            <a:r>
              <a:rPr lang="es-MX" sz="1600" dirty="0"/>
              <a:t>Nica </a:t>
            </a:r>
            <a:r>
              <a:rPr lang="es-MX" sz="1600" dirty="0" err="1"/>
              <a:t>Export</a:t>
            </a:r>
            <a:r>
              <a:rPr lang="es-MX" sz="1600" dirty="0"/>
              <a:t> Trading, S.A. realizó operaciones de exportación agroindustrial durante el primer semestre de 2026 hacia seis mercados internacionales clave: Estados Unidos, México, Costa Rica, Guatemala, El Salvador y España.</a:t>
            </a:r>
          </a:p>
          <a:p>
            <a:endParaRPr lang="es-MX" sz="1600" dirty="0"/>
          </a:p>
          <a:p>
            <a:r>
              <a:rPr lang="es-MX" sz="1600" dirty="0"/>
              <a:t>Ante la presencia de registros de información independientes, la gerencia requería consolidar los datos para transformarlos en inteligencia de negocios orientada a la toma de decisiones estratégicas.</a:t>
            </a:r>
            <a:endParaRPr lang="es-NI" sz="16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09C3E30-3DBF-4CB8-A29A-0B718A74FDCE}"/>
              </a:ext>
            </a:extLst>
          </p:cNvPr>
          <p:cNvSpPr/>
          <p:nvPr/>
        </p:nvSpPr>
        <p:spPr>
          <a:xfrm>
            <a:off x="6381750" y="1790701"/>
            <a:ext cx="5194300" cy="3733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/>
              <a:t>Objetivos Estratégicos</a:t>
            </a:r>
          </a:p>
          <a:p>
            <a:pPr algn="ctr"/>
            <a:endParaRPr lang="es-MX" sz="1600" b="1" dirty="0"/>
          </a:p>
          <a:p>
            <a:r>
              <a:rPr lang="es-MX" sz="1600" dirty="0"/>
              <a:t>El análisis busca resolver las siguientes inquietudes comerciales: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Determinar los mercados y productos líderes en valor FOB y volumen.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Identificar las operaciones con mayor margen de utilidad (≥ 30%).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Detectar operaciones en estado </a:t>
            </a:r>
            <a:r>
              <a:rPr lang="es-MX" sz="1600" i="1" dirty="0"/>
              <a:t>Pendiente</a:t>
            </a:r>
            <a:r>
              <a:rPr lang="es-MX" sz="1600" dirty="0"/>
              <a:t> que requieren atención.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Establecer una clasificación de </a:t>
            </a:r>
            <a:r>
              <a:rPr lang="es-MX" sz="1600" i="1" dirty="0"/>
              <a:t>Prioridad</a:t>
            </a:r>
            <a:r>
              <a:rPr lang="es-MX" sz="1600" dirty="0"/>
              <a:t> Comercial formal.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620302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Resumen de operaciones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501650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100</a:t>
            </a:r>
          </a:p>
          <a:p>
            <a:pPr algn="ctr"/>
            <a:r>
              <a:rPr lang="es-MX" sz="1600" dirty="0"/>
              <a:t>Operaciones Totales</a:t>
            </a:r>
            <a:endParaRPr lang="es-NI" sz="16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9062A15-4E68-49B7-8352-AF9473906DB8}"/>
              </a:ext>
            </a:extLst>
          </p:cNvPr>
          <p:cNvSpPr/>
          <p:nvPr/>
        </p:nvSpPr>
        <p:spPr>
          <a:xfrm>
            <a:off x="3333750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$658,265</a:t>
            </a:r>
          </a:p>
          <a:p>
            <a:pPr algn="ctr"/>
            <a:r>
              <a:rPr lang="es-NI" sz="1600" dirty="0"/>
              <a:t>Valor FOB Total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824B977-0DC2-406E-B8F3-254F8CA165B3}"/>
              </a:ext>
            </a:extLst>
          </p:cNvPr>
          <p:cNvSpPr/>
          <p:nvPr/>
        </p:nvSpPr>
        <p:spPr>
          <a:xfrm>
            <a:off x="6165850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$214,072</a:t>
            </a:r>
          </a:p>
          <a:p>
            <a:pPr algn="ctr"/>
            <a:r>
              <a:rPr lang="es-NI" sz="1600" dirty="0"/>
              <a:t>Utilidad Consolidada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A6F3256-6173-451B-9016-C14FC3FF278E}"/>
              </a:ext>
            </a:extLst>
          </p:cNvPr>
          <p:cNvSpPr/>
          <p:nvPr/>
        </p:nvSpPr>
        <p:spPr>
          <a:xfrm>
            <a:off x="8997948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33%</a:t>
            </a:r>
          </a:p>
          <a:p>
            <a:pPr algn="ctr"/>
            <a:r>
              <a:rPr lang="es-NI" sz="1600" dirty="0"/>
              <a:t>Margen Promedio</a:t>
            </a:r>
          </a:p>
        </p:txBody>
      </p:sp>
      <p:graphicFrame>
        <p:nvGraphicFramePr>
          <p:cNvPr id="11" name="Tabla 11">
            <a:extLst>
              <a:ext uri="{FF2B5EF4-FFF2-40B4-BE49-F238E27FC236}">
                <a16:creationId xmlns:a16="http://schemas.microsoft.com/office/drawing/2014/main" id="{A91A0178-E0E8-4A7B-B426-FA5D7720A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357437"/>
              </p:ext>
            </p:extLst>
          </p:nvPr>
        </p:nvGraphicFramePr>
        <p:xfrm>
          <a:off x="533400" y="3685540"/>
          <a:ext cx="11125200" cy="174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375">
                  <a:extLst>
                    <a:ext uri="{9D8B030D-6E8A-4147-A177-3AD203B41FA5}">
                      <a16:colId xmlns:a16="http://schemas.microsoft.com/office/drawing/2014/main" val="3290413730"/>
                    </a:ext>
                  </a:extLst>
                </a:gridCol>
                <a:gridCol w="2562225">
                  <a:extLst>
                    <a:ext uri="{9D8B030D-6E8A-4147-A177-3AD203B41FA5}">
                      <a16:colId xmlns:a16="http://schemas.microsoft.com/office/drawing/2014/main" val="27430566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4222357603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4061503696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s-NI" sz="1600" dirty="0"/>
                        <a:t>Estado de Operación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600" dirty="0" err="1"/>
                        <a:t>N°</a:t>
                      </a:r>
                      <a:r>
                        <a:rPr lang="es-NI" sz="1600" dirty="0"/>
                        <a:t> Operaciones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600" dirty="0"/>
                        <a:t>Valor FOB Total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600" dirty="0"/>
                        <a:t>% Participación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38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1600" b="1" dirty="0">
                          <a:solidFill>
                            <a:schemeClr val="tx1"/>
                          </a:solidFill>
                        </a:rPr>
                        <a:t>Entregado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$338,639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51.44%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51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1600" b="1" dirty="0">
                          <a:solidFill>
                            <a:schemeClr val="tx1"/>
                          </a:solidFill>
                        </a:rPr>
                        <a:t>Pendiente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$93,445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14.19%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72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1600" b="1" dirty="0">
                          <a:solidFill>
                            <a:schemeClr val="tx1"/>
                          </a:solidFill>
                        </a:rPr>
                        <a:t>Embarcado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$226,181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34.36%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350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623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Principales Mercados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6C25FC6-8D01-4FB4-BA8B-1D7A9D7CB776}"/>
              </a:ext>
            </a:extLst>
          </p:cNvPr>
          <p:cNvSpPr/>
          <p:nvPr/>
        </p:nvSpPr>
        <p:spPr>
          <a:xfrm>
            <a:off x="660400" y="4635501"/>
            <a:ext cx="11087100" cy="129539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Hallazgo Regional: </a:t>
            </a:r>
            <a:r>
              <a:rPr lang="es-MX" sz="1600" dirty="0"/>
              <a:t>Norteamérica concentra el 43.91% del total exportado ($289,058 FOB), manteniéndose como el bloque estratégico prioritario, seguido por Centroamérica con un 35.38% ($232,879 FOB) y Europa con el 20.71% ($136,328 FOB).</a:t>
            </a:r>
            <a:endParaRPr lang="es-NI" sz="1600" dirty="0"/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C7B16997-AD81-4460-AFDE-37DDC74385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8242325"/>
              </p:ext>
            </p:extLst>
          </p:nvPr>
        </p:nvGraphicFramePr>
        <p:xfrm>
          <a:off x="660400" y="1028702"/>
          <a:ext cx="9207500" cy="3315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681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Desempeño y Margen por Producto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774700" y="1790703"/>
            <a:ext cx="51943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NI" sz="1600" b="1" dirty="0"/>
              <a:t>Café Especial:</a:t>
            </a:r>
            <a:r>
              <a:rPr lang="es-NI" sz="1600" dirty="0"/>
              <a:t> </a:t>
            </a:r>
            <a:r>
              <a:rPr lang="es-MX" sz="1600" dirty="0"/>
              <a:t>Producto estrella en volumen e ingresos. Genera el mayor valor FOB ($170,170) y mantiene un margen de utilidad superior (25.85%).</a:t>
            </a:r>
            <a:endParaRPr lang="es-NI" sz="16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39530B9-D990-40E1-A0D3-42C80BB6FBC7}"/>
              </a:ext>
            </a:extLst>
          </p:cNvPr>
          <p:cNvSpPr/>
          <p:nvPr/>
        </p:nvSpPr>
        <p:spPr>
          <a:xfrm>
            <a:off x="774700" y="3416301"/>
            <a:ext cx="51943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Aceite de Ajonjolí y Cacao En Grano: </a:t>
            </a:r>
            <a:r>
              <a:rPr lang="es-MX" sz="1600" dirty="0"/>
              <a:t>Rubros con excelente aceptación comercial en Europa y México, promediando un margen de rentabilidad entre 21.10% y 17.26%.</a:t>
            </a:r>
            <a:endParaRPr lang="es-NI" sz="16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146D9DF-17EC-4BA9-8F3C-E6007D09684F}"/>
              </a:ext>
            </a:extLst>
          </p:cNvPr>
          <p:cNvSpPr/>
          <p:nvPr/>
        </p:nvSpPr>
        <p:spPr>
          <a:xfrm>
            <a:off x="774700" y="5016498"/>
            <a:ext cx="51943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Maní Procesado: </a:t>
            </a:r>
            <a:r>
              <a:rPr lang="es-MX" sz="1600" dirty="0"/>
              <a:t>Representa alto volumen en unidades hacia Centroamérica, aunque requiere revisión de costos logísticos para elevar su margen al 18.16%.</a:t>
            </a:r>
            <a:endParaRPr lang="es-NI" sz="1600" dirty="0"/>
          </a:p>
        </p:txBody>
      </p:sp>
      <p:pic>
        <p:nvPicPr>
          <p:cNvPr id="1026" name="Picture 2" descr="Varios tipos de granos de café en sacos Los sacos están hechos de tela ...">
            <a:extLst>
              <a:ext uri="{FF2B5EF4-FFF2-40B4-BE49-F238E27FC236}">
                <a16:creationId xmlns:a16="http://schemas.microsoft.com/office/drawing/2014/main" id="{56CC3529-B111-4940-8B42-DD1AC9961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368" y="2324101"/>
            <a:ext cx="5300132" cy="29717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020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9753600" cy="643996"/>
          </a:xfrm>
        </p:spPr>
        <p:txBody>
          <a:bodyPr>
            <a:noAutofit/>
          </a:bodyPr>
          <a:lstStyle/>
          <a:p>
            <a:r>
              <a:rPr lang="es-MX" sz="4000" dirty="0"/>
              <a:t>Rentabilidad y operaciones prioritarias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558800" y="1790701"/>
            <a:ext cx="3429000" cy="44576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Prioridad ALTA</a:t>
            </a:r>
          </a:p>
          <a:p>
            <a:r>
              <a:rPr lang="es-MX" sz="1600" i="1" dirty="0"/>
              <a:t>Criterio: </a:t>
            </a:r>
            <a:r>
              <a:rPr lang="es-MX" sz="1600" dirty="0"/>
              <a:t>Mercado Estratégico + Margen ≥ 30%.</a:t>
            </a:r>
          </a:p>
          <a:p>
            <a:endParaRPr lang="es-MX" sz="1600" dirty="0"/>
          </a:p>
          <a:p>
            <a:r>
              <a:rPr lang="es-MX" sz="1600" i="1" dirty="0"/>
              <a:t>Operaciones: </a:t>
            </a:r>
            <a:r>
              <a:rPr lang="es-MX" sz="1600" dirty="0"/>
              <a:t>6 envíos hacia EE.UU. y México (principalmente Café Especial y Ajonjolí).</a:t>
            </a:r>
          </a:p>
          <a:p>
            <a:endParaRPr lang="es-MX" sz="1600" dirty="0"/>
          </a:p>
          <a:p>
            <a:r>
              <a:rPr lang="es-MX" sz="1600" u="sng" dirty="0"/>
              <a:t>Atención Inmediata </a:t>
            </a:r>
            <a:r>
              <a:rPr lang="es-MX" sz="1600" dirty="0"/>
              <a:t>Garantizar stock y capacidad logística en contenedores.</a:t>
            </a:r>
            <a:endParaRPr lang="es-NI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E1A9889-3AFC-4103-ABEC-61A4AB21D676}"/>
              </a:ext>
            </a:extLst>
          </p:cNvPr>
          <p:cNvSpPr/>
          <p:nvPr/>
        </p:nvSpPr>
        <p:spPr>
          <a:xfrm>
            <a:off x="8318500" y="1790701"/>
            <a:ext cx="3429000" cy="44576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Prioridad BAJA</a:t>
            </a:r>
          </a:p>
          <a:p>
            <a:r>
              <a:rPr lang="es-MX" sz="1600" i="1" dirty="0"/>
              <a:t>Criterio: </a:t>
            </a:r>
            <a:r>
              <a:rPr lang="es-MX" sz="1600" dirty="0"/>
              <a:t>Mercado Potencial + Margen &lt; 30%.</a:t>
            </a:r>
          </a:p>
          <a:p>
            <a:endParaRPr lang="es-MX" sz="1600" dirty="0"/>
          </a:p>
          <a:p>
            <a:r>
              <a:rPr lang="es-MX" sz="1600" i="1" dirty="0"/>
              <a:t>Operaciones: </a:t>
            </a:r>
            <a:r>
              <a:rPr lang="es-MX" sz="1600" dirty="0"/>
              <a:t>3 envíos menores de volumen reducido.</a:t>
            </a:r>
          </a:p>
          <a:p>
            <a:endParaRPr lang="es-MX" sz="1600" dirty="0"/>
          </a:p>
          <a:p>
            <a:r>
              <a:rPr lang="es-MX" sz="1600" u="sng" dirty="0"/>
              <a:t>Revisión </a:t>
            </a:r>
          </a:p>
          <a:p>
            <a:r>
              <a:rPr lang="es-MX" sz="1600" dirty="0"/>
              <a:t>Ajustar precios FOB mínimos por contrato.</a:t>
            </a:r>
            <a:endParaRPr lang="es-NI" sz="16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C76100E-9851-4370-B405-847364C0BC18}"/>
              </a:ext>
            </a:extLst>
          </p:cNvPr>
          <p:cNvSpPr/>
          <p:nvPr/>
        </p:nvSpPr>
        <p:spPr>
          <a:xfrm>
            <a:off x="4438650" y="1790700"/>
            <a:ext cx="3429000" cy="44576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Prioridad MEDIA</a:t>
            </a:r>
          </a:p>
          <a:p>
            <a:r>
              <a:rPr lang="es-MX" sz="1600" i="1" dirty="0"/>
              <a:t>Criterio: </a:t>
            </a:r>
            <a:r>
              <a:rPr lang="es-MX" sz="1600" dirty="0"/>
              <a:t>Estratégico con Margen &lt; 30% </a:t>
            </a:r>
            <a:r>
              <a:rPr lang="es-MX" sz="1600" dirty="0" err="1"/>
              <a:t>ó</a:t>
            </a:r>
            <a:r>
              <a:rPr lang="es-MX" sz="1600" dirty="0"/>
              <a:t> Potencial con Margen ≥ 30%.</a:t>
            </a:r>
          </a:p>
          <a:p>
            <a:endParaRPr lang="es-MX" sz="1600" dirty="0"/>
          </a:p>
          <a:p>
            <a:r>
              <a:rPr lang="es-MX" sz="1600" i="1" dirty="0"/>
              <a:t>Operaciones: </a:t>
            </a:r>
            <a:r>
              <a:rPr lang="es-MX" sz="1600" dirty="0"/>
              <a:t>5 envíos hacia Costa Rica, Guatemala y España.</a:t>
            </a:r>
          </a:p>
          <a:p>
            <a:endParaRPr lang="es-MX" sz="1600" dirty="0"/>
          </a:p>
          <a:p>
            <a:r>
              <a:rPr lang="es-MX" sz="1600" u="sng" dirty="0"/>
              <a:t>Optimización</a:t>
            </a:r>
            <a:r>
              <a:rPr lang="es-MX" sz="1600" dirty="0"/>
              <a:t> </a:t>
            </a:r>
          </a:p>
          <a:p>
            <a:r>
              <a:rPr lang="es-MX" sz="1600" dirty="0"/>
              <a:t>Negociar costos de transporte y aranceles.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334709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9753600" cy="643996"/>
          </a:xfrm>
        </p:spPr>
        <p:txBody>
          <a:bodyPr>
            <a:noAutofit/>
          </a:bodyPr>
          <a:lstStyle/>
          <a:p>
            <a:r>
              <a:rPr lang="es-MX" sz="4000" dirty="0"/>
              <a:t>Principales Hallazgos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8584E334-06D6-4B15-82D2-0EFA1D476EAC}"/>
              </a:ext>
            </a:extLst>
          </p:cNvPr>
          <p:cNvSpPr txBox="1"/>
          <p:nvPr/>
        </p:nvSpPr>
        <p:spPr>
          <a:xfrm>
            <a:off x="723900" y="1524000"/>
            <a:ext cx="4800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Diagnóstico Gerencial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Concentración de Mercado: </a:t>
            </a:r>
            <a:r>
              <a:rPr lang="es-MX" dirty="0"/>
              <a:t>EE.UU. y México generan más del 60% del valor FOB total. Existe una alta dependencia comercial de la región norteamericana.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Cuello de Botella Logístico: </a:t>
            </a:r>
            <a:r>
              <a:rPr lang="es-MX" dirty="0"/>
              <a:t>4 operaciones equivalentes a $33,400 FOB permanecen en estado "Pendiente", afectando el flujo de caja proyectado.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Potencial Arancelario: </a:t>
            </a:r>
            <a:r>
              <a:rPr lang="es-MX" dirty="0"/>
              <a:t>El aprovechamiento de acuerdos preferenciales en Centroamérica permite márgenes competitivos en productos procesados.</a:t>
            </a:r>
            <a:endParaRPr lang="es-NI" dirty="0"/>
          </a:p>
        </p:txBody>
      </p:sp>
      <p:pic>
        <p:nvPicPr>
          <p:cNvPr id="2052" name="Picture 4" descr="Vista aérea de un buque de carga y un contenedor de carga en el puerto ...">
            <a:extLst>
              <a:ext uri="{FF2B5EF4-FFF2-40B4-BE49-F238E27FC236}">
                <a16:creationId xmlns:a16="http://schemas.microsoft.com/office/drawing/2014/main" id="{6B6CA13E-4FD0-4292-BF8B-76F3BB467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854200"/>
            <a:ext cx="59626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50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Conclusiones y recomendaciones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774700" y="1257307"/>
            <a:ext cx="109728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Recomendación 1 (Estrategia de Producto-Mercado): </a:t>
            </a:r>
            <a:r>
              <a:rPr lang="es-MX" sz="1600" dirty="0"/>
              <a:t>Priorizar y expandir la comercialización de Café Especial en Estados Unidos debido a su destacada participación del 38.7% en el valor FOB total y margen de utilidad superior al 38%.</a:t>
            </a:r>
            <a:endParaRPr lang="es-NI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B4CD5C-D9C6-47A6-8978-F6D6CA206771}"/>
              </a:ext>
            </a:extLst>
          </p:cNvPr>
          <p:cNvSpPr/>
          <p:nvPr/>
        </p:nvSpPr>
        <p:spPr>
          <a:xfrm>
            <a:off x="774700" y="4660903"/>
            <a:ext cx="109728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Recomendación 3 (Optimización de Márgenes): </a:t>
            </a:r>
            <a:r>
              <a:rPr lang="es-MX" sz="1600" dirty="0"/>
              <a:t>Reorganizar los contratos de exportación de Ajonjolí y Maní en Centroamérica mediante acuerdos de precios FOB mínimos y consolidación de carga para elevar las operaciones de prioridad media a alta.</a:t>
            </a:r>
            <a:endParaRPr lang="es-NI" sz="16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2B51978-7814-4AD7-9193-B9DFB72972D8}"/>
              </a:ext>
            </a:extLst>
          </p:cNvPr>
          <p:cNvSpPr/>
          <p:nvPr/>
        </p:nvSpPr>
        <p:spPr>
          <a:xfrm>
            <a:off x="774700" y="2959105"/>
            <a:ext cx="109728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Recomendación 2 (Gestión Logística y Cartera): </a:t>
            </a:r>
            <a:r>
              <a:rPr lang="es-MX" sz="1600" dirty="0"/>
              <a:t>Establecer un protocolo de seguimiento intensivo a las 4 operaciones pendientes ($33,400 FOB) para acelerar su entrega y prevenir riesgos de cobranza o retención en aduana.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3715449351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904</TotalTime>
  <Words>654</Words>
  <Application>Microsoft Office PowerPoint</Application>
  <PresentationFormat>Panorámica</PresentationFormat>
  <Paragraphs>80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Schoolbook</vt:lpstr>
      <vt:lpstr>Wingdings 2</vt:lpstr>
      <vt:lpstr>Vista</vt:lpstr>
      <vt:lpstr>Informe Gerencial: Operaciones 1 Semestre 2026</vt:lpstr>
      <vt:lpstr>Situación Empresarial y Objetivo</vt:lpstr>
      <vt:lpstr>Resumen de operaciones</vt:lpstr>
      <vt:lpstr>Principales Mercados</vt:lpstr>
      <vt:lpstr>Desempeño y Margen por Producto</vt:lpstr>
      <vt:lpstr>Rentabilidad y operaciones prioritarias</vt:lpstr>
      <vt:lpstr>Principales Hallazgos</vt:lpstr>
      <vt:lpstr>Conclusiones y 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Portada</dc:title>
  <dc:creator>Laboratorio Cisco</dc:creator>
  <cp:lastModifiedBy>Allison Caballero</cp:lastModifiedBy>
  <cp:revision>12</cp:revision>
  <dcterms:created xsi:type="dcterms:W3CDTF">2026-09-03T15:06:26Z</dcterms:created>
  <dcterms:modified xsi:type="dcterms:W3CDTF">2026-09-13T02:38:31Z</dcterms:modified>
</cp:coreProperties>
</file>